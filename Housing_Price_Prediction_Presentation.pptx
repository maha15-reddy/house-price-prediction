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B2622"/>
                </a:solidFill>
                <a:latin typeface="Arial"/>
              </a:defRPr>
            </a:pPr>
            <a:r>
              <a:rPr lang="en-IN" sz="1400" b="0" i="0" u="none" strike="noStrike">
                <a:solidFill>
                  <a:srgbClr val="2B2622"/>
                </a:solidFill>
                <a:latin typeface="Arial"/>
              </a:rPr>
              <a:t>R² Score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B85042">
                <a:alpha val="100000"/>
              </a:srgb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7E-4C34-BA0E-D4DBB777EE90}"/>
              </c:ext>
            </c:extLst>
          </c:dPt>
          <c:dPt>
            <c:idx val="1"/>
            <c:invertIfNegative val="0"/>
            <c:bubble3D val="0"/>
            <c:spPr>
              <a:solidFill>
                <a:srgbClr val="A7BE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7E-4C34-BA0E-D4DBB777EE90}"/>
              </c:ext>
            </c:extLst>
          </c:dPt>
          <c:dPt>
            <c:idx val="2"/>
            <c:invertIfNegative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7E-4C34-BA0E-D4DBB777EE9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B26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
Regression</c:v>
                </c:pt>
                <c:pt idx="1">
                  <c:v>Decision
Tree</c:v>
                </c:pt>
                <c:pt idx="2">
                  <c:v>Random
Forest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0.6139</c:v>
                </c:pt>
                <c:pt idx="1">
                  <c:v>0.62749999999999995</c:v>
                </c:pt>
                <c:pt idx="2">
                  <c:v>0.81010000000000004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87E-4C34-BA0E-D4DBB777EE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5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75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B26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Median Income</c:v>
                </c:pt>
                <c:pt idx="1">
                  <c:v>Longitude</c:v>
                </c:pt>
                <c:pt idx="2">
                  <c:v>Latitude</c:v>
                </c:pt>
                <c:pt idx="3">
                  <c:v>Housing Age</c:v>
                </c:pt>
                <c:pt idx="4">
                  <c:v>Population</c:v>
                </c:pt>
                <c:pt idx="5">
                  <c:v>Total Bedrooms</c:v>
                </c:pt>
                <c:pt idx="6">
                  <c:v>Total Rooms</c:v>
                </c:pt>
                <c:pt idx="7">
                  <c:v>Households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0.52200000000000002</c:v>
                </c:pt>
                <c:pt idx="1">
                  <c:v>0.155</c:v>
                </c:pt>
                <c:pt idx="2">
                  <c:v>0.14699999999999999</c:v>
                </c:pt>
                <c:pt idx="3">
                  <c:v>6.5000000000000002E-2</c:v>
                </c:pt>
                <c:pt idx="4">
                  <c:v>3.6999999999999998E-2</c:v>
                </c:pt>
                <c:pt idx="5">
                  <c:v>2.9000000000000001E-2</c:v>
                </c:pt>
                <c:pt idx="6">
                  <c:v>2.4E-2</c:v>
                </c:pt>
                <c:pt idx="7">
                  <c:v>0.02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74-4291-B9C5-4F0D4B9AC5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26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75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854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B262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822960" y="192024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 PRICE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Analysis of Median District House Values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Baskerville Old Face" panose="02020602080505020303" pitchFamily="18" charset="0"/>
                <a:ea typeface="Calibri" pitchFamily="34" charset="-122"/>
                <a:cs typeface="Calibri" pitchFamily="34" charset="-120"/>
              </a:rPr>
              <a:t>P. Mahalaxmi Reddy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77840" cy="44805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prices are shaped by income, location, and household density. A reliable predictive model enables buyers, lenders, and planners to estimate fair value from census-level indicators.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931920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319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3886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median house value from eight numeric predictors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68680" y="4434840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434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4389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Linear Regression, Decision Tree, and Random Forest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8680" y="4937760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37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4892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strongest price drivers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68680" y="5440680"/>
            <a:ext cx="256032" cy="25603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40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5394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the best-performing model through tuning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554480"/>
            <a:ext cx="5257800" cy="448056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18288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20,640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6720840" y="2697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 districts in the dataset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20840" y="3246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720840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incl. target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0" y="3246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5" name="Text 23"/>
          <p:cNvSpPr/>
          <p:nvPr/>
        </p:nvSpPr>
        <p:spPr>
          <a:xfrm>
            <a:off x="8869680" y="3977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4846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0.81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6720840" y="5577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 score achieved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(tuned Random Forest)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840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longitude / latitude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location of 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-124.35 to -114.31 / 32.54 to 41.95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housing_median_age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age of houses in 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52 years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total_rooms / total_bedrooms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rooms / bedrooms in 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39,320 rooms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/ households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/ households in district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– 35,682 people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median_income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household income (10k 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 – 15.0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median_house_value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Target: median house value (USD)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14,999 – 500,001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quality: 207 missing values in total_bedrooms (~1%), imputed with the column median. No duplicate rows found.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Handle Missing Values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207 missing total_bedrooms entries with the column median.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9164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965960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Outliers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the IQR rule across all numeric columns — boxplots showed extreme values in total_rooms, population, and median_income.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965960"/>
            <a:ext cx="502920" cy="50292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Features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46520" y="32461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all predictors with StandardScaler ahead of modeling.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965960"/>
            <a:ext cx="502920" cy="502920"/>
          </a:xfrm>
          <a:prstGeom prst="ellipse">
            <a:avLst/>
          </a:prstGeom>
          <a:solidFill>
            <a:srgbClr val="A7BEAE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1160" y="260604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81160" y="324612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 split, random_state = 42, for consistent evaluation.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Reveals</a:t>
            </a:r>
            <a:endParaRPr lang="en-US" sz="3000" dirty="0"/>
          </a:p>
        </p:txBody>
      </p:sp>
      <p:pic>
        <p:nvPicPr>
          <p:cNvPr id="4" name="Image 0" descr="imgs/cell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120640" cy="444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1. Correlation heatmap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350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35040" y="21488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 has the strongest positive correlation with house value.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35040" y="301752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&amp; longitude show mild negative relationships — reflecting regional price gaps.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035040" y="388620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numeric features are right-skewed with long tails (total_rooms, population).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035040" y="475488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confirm outliers concentrated in room counts, population, and income.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Income as the Leading Predictor</a:t>
            </a:r>
            <a:endParaRPr lang="en-US" sz="3000" dirty="0"/>
          </a:p>
        </p:txBody>
      </p:sp>
      <p:pic>
        <p:nvPicPr>
          <p:cNvPr id="4" name="Image 0" descr="imgs/cell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6583680" cy="4087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1737360"/>
            <a:ext cx="3840480" cy="4087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20116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value rises consistently with median income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92440" y="306324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scatter plot shows a clear positive relationship between income and price. Most homes are valued under $500,000, and the relationship holds fairly consistently across the income range — explaining why income dominates every model's feature importance.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One Benchmark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840480"/>
          </a:xfrm>
          <a:prstGeom prst="rect">
            <a:avLst/>
          </a:prstGeom>
          <a:solidFill>
            <a:srgbClr val="E7E8D1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11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linear model — fast, interpretable, assumes linear relationships.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737360"/>
            <a:ext cx="3520440" cy="3840480"/>
          </a:xfrm>
          <a:prstGeom prst="rect">
            <a:avLst/>
          </a:prstGeom>
          <a:solidFill>
            <a:srgbClr val="A7BEAE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2011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2651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splits in the data; prone to overfitting on its own.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37360"/>
            <a:ext cx="3520440" cy="3840480"/>
          </a:xfrm>
          <a:prstGeom prst="rect">
            <a:avLst/>
          </a:prstGeom>
          <a:solidFill>
            <a:srgbClr val="B85042"/>
          </a:solidFill>
          <a:ln/>
          <a:effectLst>
            <a:outerShdw blurRad="63500" dist="25400" dir="5400000" algn="bl" rotWithShape="0">
              <a:srgbClr val="888888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20116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2651760"/>
            <a:ext cx="2971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 averaging predictions for stronger generalization.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trained on standardized features with an 80/20 train-test split, evaluated by MAE, MSE, RMSE, and R².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Achieves the Strongest Performance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57607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737360"/>
          <a:ext cx="5029200" cy="2743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51,810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71,133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44,299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69,870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32,094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49,880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(Tuned)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B26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629400" y="5715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(GridSearchCV, 5-fold): n_estimators=200, max_depth=20, min_samples_split=2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Income Is the Dominant Predictor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4592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45920"/>
            <a:ext cx="3794760" cy="448056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9659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52.2%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138160" y="288036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tuned Random Forest's predictive power is attributable to median income alone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138160" y="420624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(longitude and latitude) together account for a further ~30%, while structural features (rooms, bedrooms, households) each contribute under 3%.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Delivers the Strongest Result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4297680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Model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Random Forest Regressor — R² = 0.812, the lowest error among all models tested.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691640"/>
            <a:ext cx="2651760" cy="4297680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0" y="19659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Predictor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3017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income, contributing more than half of total feature importance.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651760" cy="4297680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537960" y="19659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Challenges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017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skewed outliers, and a price cap near $500,000 in the source data.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1691640"/>
            <a:ext cx="2651760" cy="4297680"/>
          </a:xfrm>
          <a:prstGeom prst="rect">
            <a:avLst/>
          </a:prstGeom>
          <a:solidFill>
            <a:srgbClr val="3A342E"/>
          </a:solidFill>
          <a:ln/>
        </p:spPr>
      </p:sp>
      <p:sp>
        <p:nvSpPr>
          <p:cNvPr id="20" name="Shape 18"/>
          <p:cNvSpPr/>
          <p:nvPr/>
        </p:nvSpPr>
        <p:spPr>
          <a:xfrm>
            <a:off x="9418320" y="196596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94183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18320" y="25146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Next Steps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18320" y="3017520"/>
            <a:ext cx="2194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tuning, and evaluate gradient-boosted models.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75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Price Prediction  •  P. Mahalaxmi Reddy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719</Words>
  <Application>Microsoft Office PowerPoint</Application>
  <PresentationFormat>Widescreen</PresentationFormat>
  <Paragraphs>147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Baskerville Old Face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maha reddy</cp:lastModifiedBy>
  <cp:revision>2</cp:revision>
  <dcterms:created xsi:type="dcterms:W3CDTF">2026-07-10T11:38:38Z</dcterms:created>
  <dcterms:modified xsi:type="dcterms:W3CDTF">2026-07-10T13:21:06Z</dcterms:modified>
</cp:coreProperties>
</file>